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943C9-D8AB-4EEB-8F93-8647350372D0}" v="16" dt="2026-09-04T17:17:01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529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3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62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1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80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3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8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07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8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2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0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33D6E5A-270E-465A-9637-19F40C46CCC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E53446C3-EA29-4E6E-91E3-800A852F4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DF35AD4-C832-6A4A-55A8-28EE157D26C7}"/>
              </a:ext>
            </a:extLst>
          </p:cNvPr>
          <p:cNvSpPr txBox="1"/>
          <p:nvPr/>
        </p:nvSpPr>
        <p:spPr>
          <a:xfrm>
            <a:off x="3047172" y="3235044"/>
            <a:ext cx="60976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Strategies: Moving Enterprise Applications to the Cloud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09534-5F3F-B5B2-B463-82003C873F88}"/>
              </a:ext>
            </a:extLst>
          </p:cNvPr>
          <p:cNvSpPr txBox="1"/>
          <p:nvPr/>
        </p:nvSpPr>
        <p:spPr>
          <a:xfrm>
            <a:off x="606287" y="4482548"/>
            <a:ext cx="51385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 CSA1513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Antony Joesph Rajan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556DCB-789C-87A1-7650-EDAC7919AD06}"/>
              </a:ext>
            </a:extLst>
          </p:cNvPr>
          <p:cNvSpPr txBox="1"/>
          <p:nvPr/>
        </p:nvSpPr>
        <p:spPr>
          <a:xfrm>
            <a:off x="8507895" y="4631635"/>
            <a:ext cx="324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SANDEEP 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192521253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4C3824-1D5F-11B0-60E2-8176BF519B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82149" y="569642"/>
            <a:ext cx="9720468" cy="143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7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8C8EC3-7255-E4AF-D739-24E83AD8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71807D9C-A838-9D31-5107-F570A54450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6ACCC-A1F6-9615-66B1-2320A6BEFF7E}"/>
              </a:ext>
            </a:extLst>
          </p:cNvPr>
          <p:cNvSpPr txBox="1"/>
          <p:nvPr/>
        </p:nvSpPr>
        <p:spPr>
          <a:xfrm>
            <a:off x="983974" y="2753213"/>
            <a:ext cx="9312965" cy="2674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cloud migration.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different migration strategies.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migration architecture.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benefits and challenges.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a real-world migration example.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A5E14-18F9-AE45-B437-2CA598E5C896}"/>
              </a:ext>
            </a:extLst>
          </p:cNvPr>
          <p:cNvSpPr txBox="1"/>
          <p:nvPr/>
        </p:nvSpPr>
        <p:spPr>
          <a:xfrm>
            <a:off x="3342861" y="626181"/>
            <a:ext cx="5506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Strategies</a:t>
            </a:r>
          </a:p>
          <a:p>
            <a:pPr algn="ctr"/>
            <a:endParaRPr lang="en-IN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8F077C-435D-2772-2A93-D9C98B200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136" y="2537776"/>
            <a:ext cx="6803995" cy="4062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0F7A72-F877-CCF2-A7FE-DFE8BFA5E305}"/>
              </a:ext>
            </a:extLst>
          </p:cNvPr>
          <p:cNvSpPr txBox="1"/>
          <p:nvPr/>
        </p:nvSpPr>
        <p:spPr>
          <a:xfrm>
            <a:off x="788299" y="1567600"/>
            <a:ext cx="10227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is the process of moving applications, data, and IT resources from on-premises servers to cloud platforms like AWS, Microsoft Azure, or Google Cloud. This presentation explains why organizations migrate to the cloud, the strategies used, and a successful real-world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04548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59779A-CC65-F940-A86A-16A8A38C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071099E-6825-D62E-22CE-1076D36090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3C8E74-5465-9995-DDB3-62A3AE28E995}"/>
              </a:ext>
            </a:extLst>
          </p:cNvPr>
          <p:cNvSpPr txBox="1"/>
          <p:nvPr/>
        </p:nvSpPr>
        <p:spPr>
          <a:xfrm>
            <a:off x="1607654" y="1278282"/>
            <a:ext cx="4157041" cy="465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means transferring: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services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On-Premise Data Centre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EFA85-943A-80D0-C362-A0709965E8DE}"/>
              </a:ext>
            </a:extLst>
          </p:cNvPr>
          <p:cNvSpPr txBox="1"/>
          <p:nvPr/>
        </p:nvSpPr>
        <p:spPr>
          <a:xfrm>
            <a:off x="7215809" y="1278282"/>
            <a:ext cx="3637721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Cloud Providers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Platform (GCP)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Companies Migrate?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infrastructure cost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accessibility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F6E53-9564-603A-FCF1-47962F3A987D}"/>
              </a:ext>
            </a:extLst>
          </p:cNvPr>
          <p:cNvSpPr txBox="1"/>
          <p:nvPr/>
        </p:nvSpPr>
        <p:spPr>
          <a:xfrm>
            <a:off x="3119230" y="551162"/>
            <a:ext cx="5953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Migration</a:t>
            </a:r>
            <a:r>
              <a:rPr lang="en-I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206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0EE0A-EE17-6C4A-8F6A-6776C17A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74BFB2D-C06A-0A8D-095C-C855B1CA42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47C5DA-8A37-6066-306C-5B6D365E9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67350"/>
              </p:ext>
            </p:extLst>
          </p:nvPr>
        </p:nvGraphicFramePr>
        <p:xfrm>
          <a:off x="1292087" y="1807814"/>
          <a:ext cx="5416826" cy="4617783"/>
        </p:xfrm>
        <a:graphic>
          <a:graphicData uri="http://schemas.openxmlformats.org/drawingml/2006/table">
            <a:tbl>
              <a:tblPr/>
              <a:tblGrid>
                <a:gridCol w="2683359">
                  <a:extLst>
                    <a:ext uri="{9D8B030D-6E8A-4147-A177-3AD203B41FA5}">
                      <a16:colId xmlns:a16="http://schemas.microsoft.com/office/drawing/2014/main" val="4275459488"/>
                    </a:ext>
                  </a:extLst>
                </a:gridCol>
                <a:gridCol w="2733467">
                  <a:extLst>
                    <a:ext uri="{9D8B030D-6E8A-4147-A177-3AD203B41FA5}">
                      <a16:colId xmlns:a16="http://schemas.microsoft.com/office/drawing/2014/main" val="3843101626"/>
                    </a:ext>
                  </a:extLst>
                </a:gridCol>
              </a:tblGrid>
              <a:tr h="31090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666403"/>
                  </a:ext>
                </a:extLst>
              </a:tr>
              <a:tr h="7772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application without changing it (Lift &amp; Shift)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589224"/>
                  </a:ext>
                </a:extLst>
              </a:tr>
              <a:tr h="7772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Replatform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small improvements before migration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802129"/>
                  </a:ext>
                </a:extLst>
              </a:tr>
              <a:tr h="7772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Redesign application to fully utilize cloud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29"/>
                  </a:ext>
                </a:extLst>
              </a:tr>
              <a:tr h="5440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Repurchase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with SaaS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173173"/>
                  </a:ext>
                </a:extLst>
              </a:tr>
              <a:tr h="5440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unused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72457"/>
                  </a:ext>
                </a:extLst>
              </a:tr>
              <a:tr h="5440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 application on-premises temporarily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860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A42D2D-A01D-BC72-0F72-985A898A525F}"/>
              </a:ext>
            </a:extLst>
          </p:cNvPr>
          <p:cNvSpPr txBox="1"/>
          <p:nvPr/>
        </p:nvSpPr>
        <p:spPr>
          <a:xfrm>
            <a:off x="1202224" y="1310547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Migration Strategies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E9081-385C-3242-3E0F-B253B99FEF32}"/>
              </a:ext>
            </a:extLst>
          </p:cNvPr>
          <p:cNvSpPr txBox="1"/>
          <p:nvPr/>
        </p:nvSpPr>
        <p:spPr>
          <a:xfrm>
            <a:off x="7822094" y="1964669"/>
            <a:ext cx="37768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Strategy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Rehost (Lift and Shift)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changes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C7B9C-D00F-8926-8D24-BE7ECC834FE8}"/>
              </a:ext>
            </a:extLst>
          </p:cNvPr>
          <p:cNvSpPr txBox="1"/>
          <p:nvPr/>
        </p:nvSpPr>
        <p:spPr>
          <a:xfrm>
            <a:off x="2047461" y="427383"/>
            <a:ext cx="859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6 RS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9AB2BB-6084-3464-527D-AD93DA6C4617}"/>
              </a:ext>
            </a:extLst>
          </p:cNvPr>
          <p:cNvCxnSpPr/>
          <p:nvPr/>
        </p:nvCxnSpPr>
        <p:spPr>
          <a:xfrm>
            <a:off x="2653748" y="2627243"/>
            <a:ext cx="128214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8CB2BE-A46F-82D8-6102-7B664AC747C1}"/>
              </a:ext>
            </a:extLst>
          </p:cNvPr>
          <p:cNvCxnSpPr>
            <a:cxnSpLocks/>
          </p:cNvCxnSpPr>
          <p:nvPr/>
        </p:nvCxnSpPr>
        <p:spPr>
          <a:xfrm>
            <a:off x="2930387" y="4853609"/>
            <a:ext cx="91108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C546B8-BEA4-2D08-AB0C-86681B100D89}"/>
              </a:ext>
            </a:extLst>
          </p:cNvPr>
          <p:cNvCxnSpPr/>
          <p:nvPr/>
        </p:nvCxnSpPr>
        <p:spPr>
          <a:xfrm>
            <a:off x="2630557" y="4151244"/>
            <a:ext cx="128214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CDE271-0952-9069-1571-1DF5B8E73325}"/>
              </a:ext>
            </a:extLst>
          </p:cNvPr>
          <p:cNvCxnSpPr/>
          <p:nvPr/>
        </p:nvCxnSpPr>
        <p:spPr>
          <a:xfrm>
            <a:off x="2559326" y="5536095"/>
            <a:ext cx="128214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FBAC18-E3CC-BDD7-C873-FD809913E200}"/>
              </a:ext>
            </a:extLst>
          </p:cNvPr>
          <p:cNvCxnSpPr/>
          <p:nvPr/>
        </p:nvCxnSpPr>
        <p:spPr>
          <a:xfrm>
            <a:off x="2559326" y="6135757"/>
            <a:ext cx="128214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E04E5E-C346-19E7-C72E-F8F24DB32147}"/>
              </a:ext>
            </a:extLst>
          </p:cNvPr>
          <p:cNvCxnSpPr>
            <a:cxnSpLocks/>
          </p:cNvCxnSpPr>
          <p:nvPr/>
        </p:nvCxnSpPr>
        <p:spPr>
          <a:xfrm>
            <a:off x="2983396" y="3429000"/>
            <a:ext cx="91108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D8F90E-9A27-763F-098C-D51B8DBE3868}"/>
              </a:ext>
            </a:extLst>
          </p:cNvPr>
          <p:cNvCxnSpPr/>
          <p:nvPr/>
        </p:nvCxnSpPr>
        <p:spPr>
          <a:xfrm>
            <a:off x="1073426" y="2176670"/>
            <a:ext cx="5486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10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A9B1BF-9716-EF5D-DF71-197835871D93}"/>
              </a:ext>
            </a:extLst>
          </p:cNvPr>
          <p:cNvSpPr txBox="1"/>
          <p:nvPr/>
        </p:nvSpPr>
        <p:spPr>
          <a:xfrm>
            <a:off x="2743200" y="733804"/>
            <a:ext cx="699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3AB21-B6F1-33B4-30E6-CE1F3ACF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E97DFD2F-C79E-C6FB-3F97-CE1F666ADC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2D3A8C-FB33-469B-1061-08276200E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323" y="1152940"/>
            <a:ext cx="9392478" cy="51247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CD1F77-F321-8617-272C-8C9B373503AC}"/>
              </a:ext>
            </a:extLst>
          </p:cNvPr>
          <p:cNvSpPr/>
          <p:nvPr/>
        </p:nvSpPr>
        <p:spPr>
          <a:xfrm>
            <a:off x="3603931" y="1278282"/>
            <a:ext cx="4393096" cy="347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45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C533-ABE8-C5B0-AF67-982DA7D1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75586F-5F12-FEAA-325E-26AF5E75C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A55B1C2C-5D75-C652-4F9C-4E3F203CA14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3D62D4-031C-CC07-5343-EA2B911CD80A}"/>
              </a:ext>
            </a:extLst>
          </p:cNvPr>
          <p:cNvSpPr txBox="1"/>
          <p:nvPr/>
        </p:nvSpPr>
        <p:spPr>
          <a:xfrm>
            <a:off x="1351311" y="1381538"/>
            <a:ext cx="4035288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Cloud Migration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data centres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failures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migrating to AWS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over 300 million users globally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scaling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content delivery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F8805-4D9B-5B78-03B6-513F3EF6772C}"/>
              </a:ext>
            </a:extLst>
          </p:cNvPr>
          <p:cNvSpPr txBox="1"/>
          <p:nvPr/>
        </p:nvSpPr>
        <p:spPr>
          <a:xfrm>
            <a:off x="2922104" y="586409"/>
            <a:ext cx="6867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 &amp; Real-World Use Case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5A4A5C-982D-2F5F-B861-3A723E363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403" y="3688067"/>
            <a:ext cx="4230469" cy="2373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194DB8-367D-AFA2-D7FF-620ACE98F545}"/>
              </a:ext>
            </a:extLst>
          </p:cNvPr>
          <p:cNvSpPr txBox="1"/>
          <p:nvPr/>
        </p:nvSpPr>
        <p:spPr>
          <a:xfrm>
            <a:off x="6909414" y="1381538"/>
            <a:ext cx="4022446" cy="1750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Reduced downtime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customer experience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Elastic scaling during peak hours</a:t>
            </a:r>
          </a:p>
        </p:txBody>
      </p:sp>
    </p:spTree>
    <p:extLst>
      <p:ext uri="{BB962C8B-B14F-4D97-AF65-F5344CB8AC3E}">
        <p14:creationId xmlns:p14="http://schemas.microsoft.com/office/powerpoint/2010/main" val="333018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59658-A494-BF34-427D-CA886B41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415130-7639-0ECD-3194-72EA7ABE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A2F31A02-6712-1464-79FA-CF1C5EEF1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E0BE41-5C43-8FAE-1FE8-CA67A8B71C4B}"/>
              </a:ext>
            </a:extLst>
          </p:cNvPr>
          <p:cNvSpPr txBox="1"/>
          <p:nvPr/>
        </p:nvSpPr>
        <p:spPr>
          <a:xfrm>
            <a:off x="2111492" y="1702341"/>
            <a:ext cx="2864955" cy="345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cost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Disaster recovery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collaboration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0BE3A-B318-BF47-2583-179AA21A1AC5}"/>
              </a:ext>
            </a:extLst>
          </p:cNvPr>
          <p:cNvSpPr txBox="1"/>
          <p:nvPr/>
        </p:nvSpPr>
        <p:spPr>
          <a:xfrm>
            <a:off x="7074041" y="1717598"/>
            <a:ext cx="618079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concerns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during migration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compatibility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training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complexity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requirements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overruns if not managed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5A5A9-2BC6-1269-8AF8-479345AFEE60}"/>
              </a:ext>
            </a:extLst>
          </p:cNvPr>
          <p:cNvSpPr txBox="1"/>
          <p:nvPr/>
        </p:nvSpPr>
        <p:spPr>
          <a:xfrm>
            <a:off x="3135086" y="621956"/>
            <a:ext cx="618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Benefits, Challenges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10677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3A12-2BAA-83A9-8114-EA501AD1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83BDDD-7024-98A7-8DEF-5CB11A40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D3A7A081-1AA4-4437-AE99-EF6EC12A4D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03C53-F827-D1A8-16D7-DA4BE77435C4}"/>
              </a:ext>
            </a:extLst>
          </p:cNvPr>
          <p:cNvSpPr txBox="1"/>
          <p:nvPr/>
        </p:nvSpPr>
        <p:spPr>
          <a:xfrm>
            <a:off x="1073427" y="1278282"/>
            <a:ext cx="11118573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migration enables organizations to modernize IT infrastructure, improve scalability, reduce operational costs, and enhance business continuity.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Future Scope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cloud migration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Multi-cloud environments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adoption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90727E8-C320-1E94-810B-64761E2B191F}"/>
              </a:ext>
            </a:extLst>
          </p:cNvPr>
          <p:cNvSpPr/>
          <p:nvPr/>
        </p:nvSpPr>
        <p:spPr>
          <a:xfrm>
            <a:off x="496957" y="1858617"/>
            <a:ext cx="576470" cy="3180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C9A8A-93B5-367B-7A7A-61FAA1DB4594}"/>
              </a:ext>
            </a:extLst>
          </p:cNvPr>
          <p:cNvSpPr txBox="1"/>
          <p:nvPr/>
        </p:nvSpPr>
        <p:spPr>
          <a:xfrm>
            <a:off x="3220278" y="516835"/>
            <a:ext cx="5496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8DA9C-BF7D-E020-3895-2A1D82D7D0A8}"/>
              </a:ext>
            </a:extLst>
          </p:cNvPr>
          <p:cNvSpPr txBox="1"/>
          <p:nvPr/>
        </p:nvSpPr>
        <p:spPr>
          <a:xfrm>
            <a:off x="6632713" y="3607905"/>
            <a:ext cx="3503544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integration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cloud computing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38FD61-AB0E-743F-F397-578D72B37911}"/>
              </a:ext>
            </a:extLst>
          </p:cNvPr>
          <p:cNvCxnSpPr/>
          <p:nvPr/>
        </p:nvCxnSpPr>
        <p:spPr>
          <a:xfrm>
            <a:off x="1073427" y="3607905"/>
            <a:ext cx="86967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89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AB46-F8CA-7675-7BBE-2ECC1E97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C9CECA-4D28-C511-441A-2427B5E7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450069C6-B3C7-8C76-AB95-4A1CA7E363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88F1DC-5014-4F67-7E70-9F508A4C8F1E}"/>
              </a:ext>
            </a:extLst>
          </p:cNvPr>
          <p:cNvSpPr txBox="1"/>
          <p:nvPr/>
        </p:nvSpPr>
        <p:spPr>
          <a:xfrm>
            <a:off x="1212574" y="2409086"/>
            <a:ext cx="9961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04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A361-DBB4-4D57-CF5C-565569D9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9FE29F-49F8-3DEA-B498-C472A1E6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57797"/>
            <a:ext cx="1132650" cy="1020485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5D88FC67-D623-7873-E3FF-E23A69BF0D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6801" y="257797"/>
            <a:ext cx="1326538" cy="10204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D1DA41-3CBC-21A2-5139-9C0CA9BC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264" y="960329"/>
            <a:ext cx="4477635" cy="52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5562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188</TotalTime>
  <Words>390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K</dc:creator>
  <cp:lastModifiedBy>Sandeep K</cp:lastModifiedBy>
  <cp:revision>13</cp:revision>
  <dcterms:created xsi:type="dcterms:W3CDTF">2026-07-22T02:48:12Z</dcterms:created>
  <dcterms:modified xsi:type="dcterms:W3CDTF">2026-09-04T18:46:30Z</dcterms:modified>
</cp:coreProperties>
</file>